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881360" cy="27432"/>
          </a:xfrm>
          <a:prstGeom prst="rect">
            <a:avLst/>
          </a:prstGeom>
          <a:solidFill>
            <a:srgbClr val="8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212"/>
                </a:solidFill>
                <a:latin typeface="Arial"/>
              </a:rPr>
              <a:t>Founder + Institutional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>
                <a:solidFill>
                  <a:srgbClr val="1C1C1C"/>
                </a:solidFill>
                <a:latin typeface="Arial"/>
              </a:rPr>
              <a:t>Jon Lowenstein is a documentary photographer and filmmaker with more than 30 years of field-based practice rooted in Chicago and extending across the United States and internationally. He is a Guggenheim Fellow, National Geographic Explorer, TED Senior Fellow, and a founding member of NOOR Images.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1">
                <a:solidFill>
                  <a:srgbClr val="1C1C1C"/>
                </a:solidFill>
                <a:latin typeface="Arial"/>
              </a:rPr>
              <a:t>Artefakt builds on that long-term practice to create a cross-border foundation for documentary work, education, preservation, and sustainable storytelling.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46464"/>
                </a:solidFill>
                <a:latin typeface="Arial"/>
              </a:rPr>
              <a:t>Founder-led. Network-supported. Built from practice.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417320"/>
            <a:ext cx="4069080" cy="4343400"/>
          </a:xfrm>
          <a:prstGeom prst="rect">
            <a:avLst/>
          </a:prstGeom>
          <a:solidFill>
            <a:srgbClr val="F6F6F4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7373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A1C1C"/>
                </a:solidFill>
                <a:latin typeface="Arial"/>
              </a:rPr>
              <a:t>YEAR 1 OPERATING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Arial"/>
              </a:rPr>
              <a:t>Founder / Artistic Director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Arial"/>
              </a:rPr>
              <a:t>Part-time operations and programming support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Arial"/>
              </a:rPr>
              <a:t>Workshop facilitators and collaborators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Arial"/>
              </a:rPr>
              <a:t>Installation and archive support as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4389120"/>
            <a:ext cx="3337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A1C1C"/>
                </a:solidFill>
                <a:latin typeface="Arial"/>
              </a:rPr>
              <a:t>NETWORK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Arial"/>
              </a:rPr>
              <a:t>Supported by a broad network of photographers, filmmakers, editors, educators, curators, and community partners in Chicago, Calgary, and beyond.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6464"/>
                </a:solidFill>
                <a:latin typeface="Arial"/>
              </a:rPr>
              <a:t>ARTEFAKT.FOUNDATION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